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1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11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notesSlides/notesSlide12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notesSlides/notesSlide13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14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notesSlides/notesSlide15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notesSlides/notesSlide16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notesSlides/notesSlide17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notesSlides/notesSlide18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notesSlides/notesSlide19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notesSlides/notesSlide20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notesSlides/notesSlide21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256" r:id="rId5"/>
    <p:sldId id="283" r:id="rId6"/>
    <p:sldId id="302" r:id="rId7"/>
    <p:sldId id="299" r:id="rId8"/>
    <p:sldId id="291" r:id="rId9"/>
    <p:sldId id="308" r:id="rId10"/>
    <p:sldId id="284" r:id="rId11"/>
    <p:sldId id="290" r:id="rId12"/>
    <p:sldId id="285" r:id="rId13"/>
    <p:sldId id="300" r:id="rId14"/>
    <p:sldId id="303" r:id="rId15"/>
    <p:sldId id="301" r:id="rId16"/>
    <p:sldId id="309" r:id="rId17"/>
    <p:sldId id="310" r:id="rId18"/>
    <p:sldId id="304" r:id="rId19"/>
    <p:sldId id="305" r:id="rId20"/>
    <p:sldId id="311" r:id="rId21"/>
    <p:sldId id="306" r:id="rId22"/>
    <p:sldId id="289" r:id="rId23"/>
    <p:sldId id="297" r:id="rId24"/>
    <p:sldId id="296" r:id="rId25"/>
    <p:sldId id="298" r:id="rId26"/>
    <p:sldId id="268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17FD41-7516-14E4-28EC-9EDA718D0E38}" name="Izel Karaoglu" initials="IK" userId="S::izel.karaoglu@undp.org::0324853d-3d06-43c0-96b6-d1a6d5104983" providerId="AD"/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2E46"/>
    <a:srgbClr val="6E1E90"/>
    <a:srgbClr val="4617DE"/>
    <a:srgbClr val="F04A23"/>
    <a:srgbClr val="FC2A49"/>
    <a:srgbClr val="EE482C"/>
    <a:srgbClr val="4618DE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48C9A-0175-1C45-99F8-4CDAE86F6A11}" v="4" dt="2024-10-08T15:42:53.718"/>
    <p1510:client id="{AEAD233D-E157-4B34-BCAF-E0C2744BEB93}" v="38" dt="2024-10-08T15:26:05.63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8"/>
    <p:restoredTop sz="94692"/>
  </p:normalViewPr>
  <p:slideViewPr>
    <p:cSldViewPr snapToGrid="0">
      <p:cViewPr varScale="1">
        <p:scale>
          <a:sx n="105" d="100"/>
          <a:sy n="105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9154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3469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1620623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FTs like precision agriculture, remote sensing &amp; AI-powered forming equipment can help increase agricultural productivity in LDCs. This can improve </a:t>
            </a:r>
            <a:r>
              <a:rPr dirty="0" err="1"/>
              <a:t>fiid</a:t>
            </a:r>
            <a:r>
              <a:rPr dirty="0"/>
              <a:t>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2616184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BE2C-59B7-0C91-B7AA-94A42EDE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09C01EBE-1FB9-ABC9-023B-C8D7D427D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8B17E1CB-44AE-9BEE-D7DD-8A821FACC4B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FTs like precision agriculture, remote sensing &amp; AI-powered forming equipment can help increase agricultural productivity in LDCs. This can improve </a:t>
            </a:r>
            <a:r>
              <a:rPr dirty="0" err="1"/>
              <a:t>fiid</a:t>
            </a:r>
            <a:r>
              <a:rPr dirty="0"/>
              <a:t>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3348311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2468249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1662175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3281091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822765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1723851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3611395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83ED-A74D-2107-C32F-4746FF22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96E07443-C897-AC9E-FA94-5514ED44C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F5EC51B-D3A3-0409-9FF0-D02ADBA8D5F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2514206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960C-B757-51BA-587D-A0EA6AF3D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9E93B1A-0CA5-63D7-562B-393324CC9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F0048AE5-9D8C-AA4E-3BAB-FC0ED676A3D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3910627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3491123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779745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FA3D-85FF-C530-6CD2-4F952B85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029D5B46-961E-F5E8-DBF0-27650A2FA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ABFCE7C6-66EC-EF2D-9FC9-3212D81744C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3093462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2307041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2195422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FTs like precision agriculture, remote sensing &amp; AI-powered forming equipment can help increase agricultural productivity in LDCs. This can improve fiid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2539798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FTs like precision agriculture, remote sensing &amp; AI-powered forming equipment can help increase agricultural productivity in LDCs. This can improve </a:t>
            </a:r>
            <a:r>
              <a:rPr dirty="0" err="1"/>
              <a:t>fiid</a:t>
            </a:r>
            <a:r>
              <a:rPr dirty="0"/>
              <a:t>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21866102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FTs like precision agriculture, remote sensing &amp; AI-powered forming equipment can help increase agricultural productivity in LDCs. This can improve </a:t>
            </a:r>
            <a:r>
              <a:rPr dirty="0" err="1"/>
              <a:t>fiid</a:t>
            </a:r>
            <a:r>
              <a:rPr dirty="0"/>
              <a:t> security &amp; contribute to the achievement of SDG 2 (Zero Hunger). </a:t>
            </a:r>
          </a:p>
        </p:txBody>
      </p:sp>
    </p:spTree>
    <p:extLst>
      <p:ext uri="{BB962C8B-B14F-4D97-AF65-F5344CB8AC3E}">
        <p14:creationId xmlns:p14="http://schemas.microsoft.com/office/powerpoint/2010/main" val="60543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56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9.png"/><Relationship Id="rId11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0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24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0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customXml" Target="../ink/ink1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customXml" Target="../ink/ink18.xml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customXml" Target="../ink/ink20.xml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customXml" Target="../ink/ink22.xml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0" Type="http://schemas.openxmlformats.org/officeDocument/2006/relationships/customXml" Target="../ink/ink24.xml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0" Type="http://schemas.openxmlformats.org/officeDocument/2006/relationships/customXml" Target="../ink/ink26.xml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customXml" Target="../ink/ink28.xml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customXml" Target="../ink/ink30.xml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29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31.png"/><Relationship Id="rId10" Type="http://schemas.openxmlformats.org/officeDocument/2006/relationships/customXml" Target="../ink/ink32.xml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customXml" Target="../ink/ink34.xml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customXml" Target="../ink/ink3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0.png"/><Relationship Id="rId5" Type="http://schemas.openxmlformats.org/officeDocument/2006/relationships/image" Target="../media/image4.png"/><Relationship Id="rId10" Type="http://schemas.openxmlformats.org/officeDocument/2006/relationships/customXml" Target="../ink/ink38.xml"/><Relationship Id="rId4" Type="http://schemas.openxmlformats.org/officeDocument/2006/relationships/image" Target="../media/image2.png"/><Relationship Id="rId9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0.png"/><Relationship Id="rId5" Type="http://schemas.openxmlformats.org/officeDocument/2006/relationships/image" Target="../media/image4.png"/><Relationship Id="rId10" Type="http://schemas.openxmlformats.org/officeDocument/2006/relationships/customXml" Target="../ink/ink40.xml"/><Relationship Id="rId4" Type="http://schemas.openxmlformats.org/officeDocument/2006/relationships/image" Target="../media/image2.png"/><Relationship Id="rId9" Type="http://schemas.openxmlformats.org/officeDocument/2006/relationships/image" Target="../media/image17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0.png"/><Relationship Id="rId5" Type="http://schemas.openxmlformats.org/officeDocument/2006/relationships/image" Target="../media/image4.png"/><Relationship Id="rId10" Type="http://schemas.openxmlformats.org/officeDocument/2006/relationships/customXml" Target="../ink/ink42.xml"/><Relationship Id="rId4" Type="http://schemas.openxmlformats.org/officeDocument/2006/relationships/image" Target="../media/image2.png"/><Relationship Id="rId9" Type="http://schemas.openxmlformats.org/officeDocument/2006/relationships/image" Target="../media/image1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 lang="en-US"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6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7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5876268" y="4382389"/>
            <a:ext cx="4232888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b="1" dirty="0">
                <a:latin typeface="Microsoft YaHei"/>
              </a:rPr>
              <a:t>Malaria Screener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3C3C6A-022F-5B7B-AC8D-CA48D3C44C6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161002" y="5364544"/>
            <a:ext cx="4107310" cy="85975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algn="l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solidFill>
                  <a:srgbClr val="FEFFFE"/>
                </a:solidFill>
                <a:latin typeface="Microsoft YaHei Light"/>
              </a:rPr>
              <a:t>FTL Ethiopia ML Bootcamp</a:t>
            </a:r>
          </a:p>
          <a:p>
            <a:pPr algn="l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solidFill>
                  <a:srgbClr val="FEFFFE"/>
                </a:solidFill>
                <a:latin typeface="Microsoft YaHei Light"/>
              </a:rPr>
              <a:t>15</a:t>
            </a:r>
            <a:r>
              <a:rPr lang="en-US" sz="1600" baseline="30000" dirty="0">
                <a:solidFill>
                  <a:srgbClr val="FEFFFE"/>
                </a:solidFill>
                <a:latin typeface="Microsoft YaHei Light"/>
              </a:rPr>
              <a:t>th</a:t>
            </a:r>
            <a:r>
              <a:rPr lang="en-US" sz="1600" dirty="0">
                <a:solidFill>
                  <a:srgbClr val="FEFFFE"/>
                </a:solidFill>
                <a:latin typeface="Microsoft YaHei Light"/>
              </a:rPr>
              <a:t> June 2025</a:t>
            </a:r>
          </a:p>
        </p:txBody>
      </p:sp>
      <p:sp>
        <p:nvSpPr>
          <p:cNvPr id="3" name="A new generation…">
            <a:extLst>
              <a:ext uri="{FF2B5EF4-FFF2-40B4-BE49-F238E27FC236}">
                <a16:creationId xmlns:a16="http://schemas.microsoft.com/office/drawing/2014/main" id="{450A60F5-5B73-6740-C138-1217D7A504A3}"/>
              </a:ext>
            </a:extLst>
          </p:cNvPr>
          <p:cNvSpPr txBox="1"/>
          <p:nvPr/>
        </p:nvSpPr>
        <p:spPr>
          <a:xfrm>
            <a:off x="5881200" y="3061115"/>
            <a:ext cx="5776579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sym typeface="Myriad Pro Semibold"/>
              </a:rPr>
              <a:t>AI-Powered Malaria Diagnosis System </a:t>
            </a:r>
            <a:b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sym typeface="Myriad Pro Semibold"/>
              </a:rPr>
            </a:b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sym typeface="Myriad Pro Semibold"/>
              </a:rPr>
              <a:t>with Mobile, Web, and Chatbot </a:t>
            </a:r>
            <a:b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sym typeface="Myriad Pro Semibold"/>
              </a:rPr>
            </a:b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sym typeface="Myriad Pro Semibold"/>
              </a:rPr>
              <a:t>Integration</a:t>
            </a:r>
            <a:b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sym typeface="Myriad Pro Semibold"/>
              </a:rPr>
            </a:b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1119" y="1521319"/>
            <a:ext cx="5931561" cy="4919389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>
                <a:latin typeface="Microsoft YaHei Light"/>
                <a:ea typeface="+mj-lt"/>
                <a:cs typeface="+mj-lt"/>
              </a:rPr>
              <a:t>Concept note and implementation plan</a:t>
            </a:r>
          </a:p>
          <a:p>
            <a:pPr lvl="1"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  <a:ea typeface="+mj-lt"/>
                <a:cs typeface="+mj-lt"/>
              </a:rPr>
              <a:t>Background</a:t>
            </a:r>
          </a:p>
          <a:p>
            <a:pPr lvl="1"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  <a:ea typeface="+mj-lt"/>
                <a:cs typeface="+mj-lt"/>
              </a:rPr>
              <a:t>Objectives</a:t>
            </a:r>
          </a:p>
          <a:p>
            <a:pPr lvl="1"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  <a:ea typeface="+mj-lt"/>
                <a:cs typeface="+mj-lt"/>
              </a:rPr>
              <a:t>SDG Relation</a:t>
            </a: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>
                <a:latin typeface="Microsoft YaHei Light"/>
                <a:ea typeface="+mj-lt"/>
                <a:cs typeface="+mj-lt"/>
              </a:rPr>
              <a:t>Data</a:t>
            </a:r>
          </a:p>
          <a:p>
            <a:pPr lvl="1"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  <a:ea typeface="+mj-lt"/>
                <a:cs typeface="+mj-lt"/>
              </a:rPr>
              <a:t>Data Collection</a:t>
            </a:r>
          </a:p>
          <a:p>
            <a:pPr lvl="1"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  <a:ea typeface="+mj-lt"/>
                <a:cs typeface="+mj-lt"/>
              </a:rPr>
              <a:t>Exploratory Data Analysis et Feature Engineering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>
                <a:latin typeface="Microsoft YaHei Light"/>
              </a:rPr>
              <a:t>Model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</a:rPr>
              <a:t>Model Selection and Training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</a:rPr>
              <a:t>Model Evaluation and Hyperparameter Tuning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</a:rPr>
              <a:t>Model Refinement and Testing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>
                <a:latin typeface="Microsoft YaHei Light"/>
              </a:rPr>
              <a:t>Results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</a:rPr>
              <a:t>Evaluation Results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</a:rPr>
              <a:t>Deployment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/>
              </a:rPr>
              <a:t>Future Work</a:t>
            </a:r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751976" y="965081"/>
            <a:ext cx="4872894" cy="579837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Outline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4" descr="Picture 4">
            <a:extLst>
              <a:ext uri="{FF2B5EF4-FFF2-40B4-BE49-F238E27FC236}">
                <a16:creationId xmlns:a16="http://schemas.microsoft.com/office/drawing/2014/main" id="{57D78288-2887-2023-20D7-1695D0D721F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040" t="1442" r="5947" b="2065"/>
          <a:stretch>
            <a:fillRect/>
          </a:stretch>
        </p:blipFill>
        <p:spPr>
          <a:xfrm>
            <a:off x="6770205" y="1420775"/>
            <a:ext cx="4919511" cy="49193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1005"/>
                  <a:pt x="2882" y="3016"/>
                </a:cubicBezTo>
                <a:cubicBezTo>
                  <a:pt x="-961" y="7037"/>
                  <a:pt x="-961" y="13557"/>
                  <a:pt x="2882" y="17579"/>
                </a:cubicBezTo>
                <a:cubicBezTo>
                  <a:pt x="6724" y="21600"/>
                  <a:pt x="12954" y="21600"/>
                  <a:pt x="16796" y="17579"/>
                </a:cubicBezTo>
                <a:cubicBezTo>
                  <a:pt x="20639" y="13557"/>
                  <a:pt x="20639" y="7037"/>
                  <a:pt x="16796" y="3016"/>
                </a:cubicBezTo>
                <a:cubicBezTo>
                  <a:pt x="14875" y="1005"/>
                  <a:pt x="12358" y="0"/>
                  <a:pt x="9840" y="0"/>
                </a:cubicBez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832829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">
            <a:extLst>
              <a:ext uri="{FF2B5EF4-FFF2-40B4-BE49-F238E27FC236}">
                <a16:creationId xmlns:a16="http://schemas.microsoft.com/office/drawing/2014/main" id="{A76E722F-F453-1D78-E217-B9D17F108B48}"/>
              </a:ext>
            </a:extLst>
          </p:cNvPr>
          <p:cNvSpPr/>
          <p:nvPr/>
        </p:nvSpPr>
        <p:spPr>
          <a:xfrm>
            <a:off x="407334" y="2031148"/>
            <a:ext cx="10715116" cy="136240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629265" y="2422430"/>
            <a:ext cx="10572656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4000" b="1" dirty="0">
                <a:solidFill>
                  <a:schemeClr val="tx1"/>
                </a:solidFill>
                <a:latin typeface="Microsoft YaHei"/>
                <a:ea typeface="Microsoft YaHei"/>
              </a:rPr>
              <a:t>Concept note and Implementation Plan 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2098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50000"/>
              </a:lnSpc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As of </a:t>
            </a:r>
            <a:r>
              <a:rPr lang="en-US" sz="2000" b="1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2023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, malaria remains a significant global health challenge, with approximately </a:t>
            </a:r>
            <a:r>
              <a:rPr lang="en-US" sz="2000" b="1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263 million</a:t>
            </a:r>
            <a:r>
              <a:rPr lang="en-US" sz="2000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new cases and nearly </a:t>
            </a:r>
            <a:r>
              <a:rPr lang="en-US" sz="2000" b="1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600,000 deaths 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reported.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+mj-lt"/>
                <a:cs typeface="+mj-lt"/>
              </a:rPr>
              <a:t>The </a:t>
            </a:r>
            <a:r>
              <a:rPr lang="en-US" sz="2000" b="1" dirty="0">
                <a:solidFill>
                  <a:srgbClr val="FE2E46"/>
                </a:solidFill>
                <a:latin typeface="Microsoft YaHei Light"/>
                <a:ea typeface="+mj-lt"/>
                <a:cs typeface="+mj-lt"/>
              </a:rPr>
              <a:t>African 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+mj-lt"/>
                <a:cs typeface="+mj-lt"/>
              </a:rPr>
              <a:t>continent bears the brunt of this burden, accounting for </a:t>
            </a:r>
            <a:r>
              <a:rPr lang="en-US" sz="2000" b="1" dirty="0">
                <a:solidFill>
                  <a:srgbClr val="FE2E46"/>
                </a:solidFill>
                <a:latin typeface="Microsoft YaHei Light"/>
                <a:ea typeface="+mj-lt"/>
                <a:cs typeface="+mj-lt"/>
              </a:rPr>
              <a:t>94%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+mj-lt"/>
                <a:cs typeface="+mj-lt"/>
              </a:rPr>
              <a:t> of cases and </a:t>
            </a:r>
            <a:r>
              <a:rPr lang="en-US" sz="2000" b="1" dirty="0">
                <a:solidFill>
                  <a:srgbClr val="FE2E46"/>
                </a:solidFill>
                <a:latin typeface="Microsoft YaHei Light"/>
                <a:ea typeface="+mj-lt"/>
                <a:cs typeface="+mj-lt"/>
              </a:rPr>
              <a:t>95%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+mj-lt"/>
                <a:cs typeface="+mj-lt"/>
              </a:rPr>
              <a:t> of malaria-related deaths.</a:t>
            </a:r>
          </a:p>
          <a:p>
            <a:pPr marL="0" indent="0">
              <a:lnSpc>
                <a:spcPct val="15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+mj-lt"/>
              <a:cs typeface="+mj-lt"/>
            </a:endParaRPr>
          </a:p>
          <a:p>
            <a:pPr marL="0" indent="0">
              <a:lnSpc>
                <a:spcPct val="15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+mj-lt"/>
                <a:cs typeface="+mj-lt"/>
              </a:rPr>
              <a:t>Malaria is caused by five species of the Plasmodium parasite, with varying severity:</a:t>
            </a:r>
          </a:p>
          <a:p>
            <a:pPr marL="0" indent="0">
              <a:lnSpc>
                <a:spcPct val="15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E2E46"/>
                </a:solidFill>
                <a:latin typeface="Microsoft YaHei Light"/>
                <a:ea typeface="+mj-lt"/>
                <a:cs typeface="+mj-lt"/>
              </a:rPr>
              <a:t>Plasmodium falciparum 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+mj-lt"/>
                <a:cs typeface="+mj-lt"/>
              </a:rPr>
              <a:t>– The most dangerous and most common in Africa.</a:t>
            </a:r>
          </a:p>
          <a:p>
            <a:pPr marL="0" indent="0">
              <a:lnSpc>
                <a:spcPct val="15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400" dirty="0">
              <a:solidFill>
                <a:srgbClr val="000000"/>
              </a:solidFill>
              <a:latin typeface="Microsoft YaHei Ligh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85633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Develop a cross-platform </a:t>
            </a:r>
            <a:r>
              <a:rPr lang="en-US" sz="2400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mobile app </a:t>
            </a: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(Flutter) for AI-powered malaria screening, a Next.js </a:t>
            </a:r>
            <a:r>
              <a:rPr lang="en-US" sz="2400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dashboard</a:t>
            </a: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 for healthcare providers, a Django backend, and a Malaria-specific </a:t>
            </a:r>
            <a:r>
              <a:rPr lang="en-US" sz="2400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chatbot</a:t>
            </a: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 for instant support. 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The system: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4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Automate parasite detection in blood smears using AI-based models.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 Store and manage patient records.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4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Provide a chatbot assistant for malaria-related queries.</a:t>
            </a:r>
            <a:endParaRPr lang="en-US" sz="1600" dirty="0">
              <a:latin typeface="Microsoft YaHei Ligh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415931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EF339-9D22-437C-0636-10554157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2977E6F7-970F-114F-038E-4C113A2D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9D0EF0B-31AE-8390-7A98-F1BA12331EB6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57FD5501-4E6F-88E9-00DF-9CB0B49EF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FDA78351-3782-CD99-9614-2BC029E1A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6431E2E3-CB91-D8D1-FCC7-B85FE1D31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18E651E7-5CB4-F3A9-940A-F2B4ACF61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107838-469E-704C-6739-EA1C8259136B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107838-469E-704C-6739-EA1C825913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38DF98A1-BF61-0043-C976-C93D2517C100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EDAD175-AF85-0752-7368-3B441ED1030D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EDAD175-AF85-0752-7368-3B441ED103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E5CEFA6C-CCB9-A949-2FA8-D67D659F349A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Proposed Solution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71D782-D61B-8751-5D96-56FF353C2E79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  <a:ea typeface="+mj-lt"/>
              <a:cs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7BE52-0BDB-0FE1-81BF-449D9F38617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31" y="2282748"/>
            <a:ext cx="5780531" cy="3303160"/>
          </a:xfrm>
          <a:prstGeom prst="rect">
            <a:avLst/>
          </a:prstGeom>
        </p:spPr>
      </p:pic>
      <p:pic>
        <p:nvPicPr>
          <p:cNvPr id="4" name="Picture 3" descr="A microscope with a cell phone attached to it&#10;&#10;AI-generated content may be incorrect.">
            <a:extLst>
              <a:ext uri="{FF2B5EF4-FFF2-40B4-BE49-F238E27FC236}">
                <a16:creationId xmlns:a16="http://schemas.microsoft.com/office/drawing/2014/main" id="{DFEDB52D-B3E2-3BA1-BBF9-BE5E78A3BE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153" y="2207311"/>
            <a:ext cx="5168871" cy="3546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7D2737-84DA-80A4-0F16-D2A749015983}"/>
              </a:ext>
            </a:extLst>
          </p:cNvPr>
          <p:cNvSpPr txBox="1"/>
          <p:nvPr/>
        </p:nvSpPr>
        <p:spPr>
          <a:xfrm>
            <a:off x="301460" y="5673431"/>
            <a:ext cx="287033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Source: AI Generated Images </a:t>
            </a:r>
          </a:p>
        </p:txBody>
      </p:sp>
    </p:spTree>
    <p:extLst>
      <p:ext uri="{BB962C8B-B14F-4D97-AF65-F5344CB8AC3E}">
        <p14:creationId xmlns:p14="http://schemas.microsoft.com/office/powerpoint/2010/main" val="22633036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SDG Relation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1255BA-15EE-15A3-4EFD-5B96230312AB}"/>
              </a:ext>
            </a:extLst>
          </p:cNvPr>
          <p:cNvSpPr txBox="1">
            <a:spLocks/>
          </p:cNvSpPr>
          <p:nvPr/>
        </p:nvSpPr>
        <p:spPr>
          <a:xfrm>
            <a:off x="751976" y="2249736"/>
            <a:ext cx="6627232" cy="360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ctr">
            <a:normAutofit lnSpcReduction="10000"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Malaria is directly linked to the United Nations Sustainable Development Goals (SDGs),</a:t>
            </a: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particularly:</a:t>
            </a: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• SDG 3: Good Health and Well-being – </a:t>
            </a:r>
            <a:r>
              <a:rPr lang="en-US" sz="2000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Target 3.3 aims to end malaria by 2030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.</a:t>
            </a: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marL="0" indent="0" hangingPunct="1">
              <a:lnSpc>
                <a:spcPct val="11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“</a:t>
            </a:r>
            <a:r>
              <a:rPr lang="en-US" sz="2000" b="1" i="1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By 2030, end the epidemics of AIDS, tuberculosis, </a:t>
            </a:r>
            <a:r>
              <a:rPr lang="en-US" sz="2000" b="1" i="1" dirty="0">
                <a:solidFill>
                  <a:srgbClr val="FE2E46"/>
                </a:solidFill>
                <a:latin typeface="Microsoft YaHei Light"/>
                <a:ea typeface="Calibri"/>
                <a:cs typeface="Calibri"/>
              </a:rPr>
              <a:t>malaria</a:t>
            </a:r>
            <a:r>
              <a:rPr lang="en-US" sz="2000" b="1" i="1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 and neglected tropical diseases and combat hepatitis, water-borne diseases and other communicable diseases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 “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solidFill>
                <a:srgbClr val="000000"/>
              </a:solidFill>
              <a:latin typeface="Microsoft YaHei Light"/>
              <a:ea typeface="+mj-lt"/>
              <a:cs typeface="+mj-lt"/>
            </a:endParaRPr>
          </a:p>
        </p:txBody>
      </p:sp>
      <p:pic>
        <p:nvPicPr>
          <p:cNvPr id="5" name="Picture 4" descr="A green line with a heart and a heart&#10;&#10;AI-generated content may be incorrect.">
            <a:extLst>
              <a:ext uri="{FF2B5EF4-FFF2-40B4-BE49-F238E27FC236}">
                <a16:creationId xmlns:a16="http://schemas.microsoft.com/office/drawing/2014/main" id="{2F06F5DD-900D-6DA8-CBF7-4D90DD36AC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802" y="2321159"/>
            <a:ext cx="3225215" cy="30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423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">
            <a:extLst>
              <a:ext uri="{FF2B5EF4-FFF2-40B4-BE49-F238E27FC236}">
                <a16:creationId xmlns:a16="http://schemas.microsoft.com/office/drawing/2014/main" id="{A76E722F-F453-1D78-E217-B9D17F108B48}"/>
              </a:ext>
            </a:extLst>
          </p:cNvPr>
          <p:cNvSpPr/>
          <p:nvPr/>
        </p:nvSpPr>
        <p:spPr>
          <a:xfrm>
            <a:off x="407334" y="2031148"/>
            <a:ext cx="10715116" cy="136240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629265" y="2422430"/>
            <a:ext cx="10572656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4000" b="1" dirty="0">
                <a:solidFill>
                  <a:schemeClr val="tx1"/>
                </a:solidFill>
                <a:latin typeface="Microsoft YaHei"/>
                <a:ea typeface="Microsoft YaHei"/>
              </a:rPr>
              <a:t>Data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8243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Data Collection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The project utilizes two primary sources of malaria blood smear images to ensure both diversity and clinical relevance: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NIH Malaria Dataset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Samples: 27,408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Type: Thin and thick blood smear images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Origin: Publicly available dataset curated by the National Institutes of Health (NIH)</a:t>
            </a:r>
          </a:p>
        </p:txBody>
      </p:sp>
    </p:spTree>
    <p:extLst>
      <p:ext uri="{BB962C8B-B14F-4D97-AF65-F5344CB8AC3E}">
        <p14:creationId xmlns:p14="http://schemas.microsoft.com/office/powerpoint/2010/main" val="28351992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11349893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icrosoft YaHei"/>
              </a:rPr>
              <a:t>Exploratory Data Analysis and Feature Engineering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 fontScale="77500" lnSpcReduction="20000"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Dataset Overview: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Source: Cell images from microscopy (Parasitized vs. Uninfected).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Size: 27,558 images (13,779 Parasitized, 13,779 Uninfected).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Split: 80% training (22,048), 20% validation (5,510), full test set (27,558).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Exploratory Data Analysis: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Balanced classes ensure unbiased model training.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Image resolution: Variable, resized to 128x128 pixels for consistency.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Visual inspection: Parasitized cells show distinct ring-like structures; Uninfected cells are clearer.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Feature Engineering: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Resizing: All images standardized to 128x128 pixels.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Normalization: Pixel values scaled to [0, 1] (divided by 255).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Data Augmentation: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Rotation (20°), zoom (20%), horizontal flips.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Enhances model robustness to variations in cell orientation and scale.</a:t>
            </a:r>
          </a:p>
        </p:txBody>
      </p:sp>
    </p:spTree>
    <p:extLst>
      <p:ext uri="{BB962C8B-B14F-4D97-AF65-F5344CB8AC3E}">
        <p14:creationId xmlns:p14="http://schemas.microsoft.com/office/powerpoint/2010/main" val="150494769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">
            <a:extLst>
              <a:ext uri="{FF2B5EF4-FFF2-40B4-BE49-F238E27FC236}">
                <a16:creationId xmlns:a16="http://schemas.microsoft.com/office/drawing/2014/main" id="{A76E722F-F453-1D78-E217-B9D17F108B48}"/>
              </a:ext>
            </a:extLst>
          </p:cNvPr>
          <p:cNvSpPr/>
          <p:nvPr/>
        </p:nvSpPr>
        <p:spPr>
          <a:xfrm>
            <a:off x="407334" y="2031148"/>
            <a:ext cx="10715116" cy="136240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629265" y="2422430"/>
            <a:ext cx="10572656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4000" b="1" dirty="0">
                <a:solidFill>
                  <a:schemeClr val="tx1"/>
                </a:solidFill>
                <a:latin typeface="Microsoft YaHei"/>
                <a:ea typeface="Microsoft YaHei"/>
              </a:rPr>
              <a:t>Model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29601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11349893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latin typeface="Microsoft YaHei"/>
                <a:ea typeface="Microsoft YaHei"/>
              </a:rPr>
              <a:t>Model Selection and Training 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Custom CNN: 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Built from scratch for baseline performance (~3.3M parameters).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MobileNetV2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: Pre-trained on ImageNet, optimized for efficiency (~2.42M parameters).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MobileNetV2 leverages transfer learning, suitable for mobile deployment.</a:t>
            </a:r>
          </a:p>
        </p:txBody>
      </p:sp>
    </p:spTree>
    <p:extLst>
      <p:ext uri="{BB962C8B-B14F-4D97-AF65-F5344CB8AC3E}">
        <p14:creationId xmlns:p14="http://schemas.microsoft.com/office/powerpoint/2010/main" val="280358292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2176-7534-F257-8CAA-F76A3220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7BBD0228-7974-AA29-49B1-41B22903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9F4F84A-4DB6-7AED-1EEA-B4BB7BD1EF26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F04A873B-E976-E867-9A65-331289E9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F0288C76-9738-FDB2-73D1-872D2C8A9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1E2770E3-17F0-CB56-426E-6594191C1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2149782F-5CBE-4754-8E8B-C0F9F9B29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7D982F7-C049-38B9-2ECC-E64AA9B3E6EC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7D982F7-C049-38B9-2ECC-E64AA9B3E6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28949567-711E-D771-678C-A4A0B3417904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A2512E7-1642-2427-89A7-57B6BCE7F8E8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A2512E7-1642-2427-89A7-57B6BCE7F8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C4E3E527-4B5A-6E27-74DC-277633168BF3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11349893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latin typeface="Microsoft YaHei"/>
                <a:ea typeface="Microsoft YaHei"/>
              </a:rPr>
              <a:t>Model Selection and Training 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75860B6-0838-50EE-5081-27022A421FCE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Custom CNN: 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loss: 0.2044 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accuracy: 0.9283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Validation Accuracy: 0.93 </a:t>
            </a: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BBFA0A-5E6B-4023-EF7D-2DCFA9ED59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8488" y="2323665"/>
            <a:ext cx="6130290" cy="32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8874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13657-092F-D08C-9391-D558BE8EF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F8A8B441-4278-FE24-B90E-5202F0497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0EF368D-0E63-83C6-8EC5-0CC87F0EFB6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5E7B13CC-42B7-C63C-F822-477226084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7D21BA7F-23A3-0B95-27BA-88C69E2BD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4C0DB3D5-AF27-94FD-E48B-41E614EEA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1BBD04DC-E523-B859-9002-C21581B2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CE904D5-FF2C-BD60-8658-628EB7671123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CE904D5-FF2C-BD60-8658-628EB76711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4851E5A7-F528-850B-5A2A-70353B714319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740B74-1C9A-89A1-F002-A5DEF9E7ADC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740B74-1C9A-89A1-F002-A5DEF9E7AD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4B130901-B62E-6B18-7297-6E441A5A4C09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11349893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latin typeface="Microsoft YaHei"/>
                <a:ea typeface="Microsoft YaHei"/>
              </a:rPr>
              <a:t>Model Selection and Training 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B04727D-FE11-861B-FF9D-5B40B6E8E7D3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MobileNetV2 : 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loss: 0.2044 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accuracy: 0.94973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Validation Accuracy: 0.95 </a:t>
            </a: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</p:txBody>
      </p:sp>
      <p:pic>
        <p:nvPicPr>
          <p:cNvPr id="5" name="Picture 4" descr="A graph of a graph showing the number of the same numbers&#10;&#10;AI-generated content may be incorrect.">
            <a:extLst>
              <a:ext uri="{FF2B5EF4-FFF2-40B4-BE49-F238E27FC236}">
                <a16:creationId xmlns:a16="http://schemas.microsoft.com/office/drawing/2014/main" id="{A522C90F-2EF0-E693-D1CD-69A2BA97CD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216" y="2396191"/>
            <a:ext cx="4733396" cy="27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6290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11349893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Model Evaluation and Hyperparameter Tuning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Hyperparameter Tuning: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Custom CNN: 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Fixed settings (learning rate, batch size=32, Adam optimizer).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MobileNetV2: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Learning rate: 1e-5 for fine-tuning (vs. default for initial training).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Epochs: 5 (initial) + 10 (fine-tuning).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Batch size: 32; dropout: 0.5 in head layers.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Tuning Strategy: Manual adjustment of learning rate for stability.</a:t>
            </a:r>
          </a:p>
        </p:txBody>
      </p:sp>
    </p:spTree>
    <p:extLst>
      <p:ext uri="{BB962C8B-B14F-4D97-AF65-F5344CB8AC3E}">
        <p14:creationId xmlns:p14="http://schemas.microsoft.com/office/powerpoint/2010/main" val="405072089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11349893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Model Refinement and Testing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b="1" dirty="0">
                <a:solidFill>
                  <a:srgbClr val="FF0000"/>
                </a:solidFill>
                <a:latin typeface="Microsoft YaHei Light"/>
                <a:ea typeface="Calibri"/>
                <a:cs typeface="Calibri"/>
              </a:rPr>
              <a:t>MobileNetV2: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Added custom head: Global average pooling, dense (128 units, ReLU), dropout (0.5), sigmoid output.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Fine-tuning: Unfroze base layers, trained 10 epochs with low learning rate (1e-5).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Improved validation accuracy from 92.49% (initial) to 94.97% (fine-tuned).</a:t>
            </a:r>
          </a:p>
        </p:txBody>
      </p:sp>
    </p:spTree>
    <p:extLst>
      <p:ext uri="{BB962C8B-B14F-4D97-AF65-F5344CB8AC3E}">
        <p14:creationId xmlns:p14="http://schemas.microsoft.com/office/powerpoint/2010/main" val="355637796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620B-7EE6-B6A7-37BE-23CA8DFF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8B022D00-86FE-DBDD-16BC-609C60E48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F66F20D-4221-A2A4-4501-351D6CD2145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A77DAC5B-2878-96BE-ADEC-EE3833F49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3940310-9A77-9698-7372-AFE1BFBA3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EF6873CB-B528-62C5-9D67-44258465C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5BF2FE64-0B0A-5AE0-A4BE-A85751D1B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A1CAB8D-0EC8-8D5F-1482-DB835DBCDB8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A1CAB8D-0EC8-8D5F-1482-DB835DBCDB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2E69F3AD-FC68-47EF-26E0-4452A2444E92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E66339A-47E2-0478-026B-4966F5CFC19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E66339A-47E2-0478-026B-4966F5CFC1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BC27BD3A-0494-70BA-AD9F-5629A3CBFBE3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11349893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Model Refinement and Testing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E764C9-846D-038F-676A-9FA682D54DC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9BD81-4698-0A88-256A-3019A2FBCB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5799" y="2877616"/>
            <a:ext cx="2360416" cy="28787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5476EA-00DD-1C75-A47D-5DBA45349C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0325" y="2396191"/>
            <a:ext cx="2703560" cy="36672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038CBE-5D0B-CF94-F325-92F9B31020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9622" y="2768653"/>
            <a:ext cx="2994959" cy="29876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F99C55-4ABA-6923-9CF8-44E14441DC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976" y="3225232"/>
            <a:ext cx="2360416" cy="229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3658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">
            <a:extLst>
              <a:ext uri="{FF2B5EF4-FFF2-40B4-BE49-F238E27FC236}">
                <a16:creationId xmlns:a16="http://schemas.microsoft.com/office/drawing/2014/main" id="{A76E722F-F453-1D78-E217-B9D17F108B48}"/>
              </a:ext>
            </a:extLst>
          </p:cNvPr>
          <p:cNvSpPr/>
          <p:nvPr/>
        </p:nvSpPr>
        <p:spPr>
          <a:xfrm>
            <a:off x="407334" y="2031148"/>
            <a:ext cx="10715116" cy="136240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629265" y="2422430"/>
            <a:ext cx="10572656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4000" b="1" dirty="0">
                <a:solidFill>
                  <a:schemeClr val="tx1"/>
                </a:solidFill>
                <a:latin typeface="Microsoft YaHei"/>
                <a:ea typeface="Microsoft YaHei"/>
              </a:rPr>
              <a:t>Results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19188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Evaluation Results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400" dirty="0">
              <a:solidFill>
                <a:srgbClr val="00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6513EC-85E0-C065-C3CC-F42F03967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242732"/>
              </p:ext>
            </p:extLst>
          </p:nvPr>
        </p:nvGraphicFramePr>
        <p:xfrm>
          <a:off x="1008515" y="2246205"/>
          <a:ext cx="7724430" cy="3783069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574810">
                  <a:extLst>
                    <a:ext uri="{9D8B030D-6E8A-4147-A177-3AD203B41FA5}">
                      <a16:colId xmlns:a16="http://schemas.microsoft.com/office/drawing/2014/main" val="135272711"/>
                    </a:ext>
                  </a:extLst>
                </a:gridCol>
                <a:gridCol w="2574810">
                  <a:extLst>
                    <a:ext uri="{9D8B030D-6E8A-4147-A177-3AD203B41FA5}">
                      <a16:colId xmlns:a16="http://schemas.microsoft.com/office/drawing/2014/main" val="321872511"/>
                    </a:ext>
                  </a:extLst>
                </a:gridCol>
                <a:gridCol w="2574810">
                  <a:extLst>
                    <a:ext uri="{9D8B030D-6E8A-4147-A177-3AD203B41FA5}">
                      <a16:colId xmlns:a16="http://schemas.microsoft.com/office/drawing/2014/main" val="340191448"/>
                    </a:ext>
                  </a:extLst>
                </a:gridCol>
              </a:tblGrid>
              <a:tr h="32055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Custom CNN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MobileNetV2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089292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Validation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92.83% (5,510 images, 10 epochs)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94.97% (5,510 images, 15 epochs)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643926"/>
                  </a:ext>
                </a:extLst>
              </a:tr>
              <a:tr h="28005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Test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96% (27,558 images)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858609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Parasitized: 0.99, Uninfected: 0.94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672356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Parasitized: 0.94, Uninfected: 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060774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Parasitized: 0.96, Uninfected: 0.96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04301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Evaluation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Qualitative predictions (~171ms/image)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Full test set metrics, confusion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564805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Key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Solid baseline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High accuracy, reliable for diagnosis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624648"/>
                  </a:ext>
                </a:extLst>
              </a:tr>
              <a:tr h="280056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No test set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</a:rPr>
                        <a:t>Slight misclassifications (~4%)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346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41578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Deployment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 lnSpcReduction="10000"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Deployment Architecture Overview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+mj-lt"/>
                <a:cs typeface="+mj-lt"/>
              </a:rPr>
              <a:t>Data Flow: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Flutter App → </a:t>
            </a:r>
            <a:r>
              <a:rPr lang="en-US" sz="2000" dirty="0" err="1">
                <a:latin typeface="Microsoft YaHei Light"/>
                <a:ea typeface="+mj-lt"/>
                <a:cs typeface="+mj-lt"/>
              </a:rPr>
              <a:t>gRPC</a:t>
            </a:r>
            <a:r>
              <a:rPr lang="en-US" sz="2000" dirty="0">
                <a:latin typeface="Microsoft YaHei Light"/>
                <a:ea typeface="+mj-lt"/>
                <a:cs typeface="+mj-lt"/>
              </a:rPr>
              <a:t> → TensorFlow Serving (for predictions).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Next.js → REST → Django (for data retrieval).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Django → </a:t>
            </a:r>
            <a:r>
              <a:rPr lang="en-US" sz="2000" dirty="0" err="1">
                <a:latin typeface="Microsoft YaHei Light"/>
                <a:ea typeface="+mj-lt"/>
                <a:cs typeface="+mj-lt"/>
              </a:rPr>
              <a:t>gRPC</a:t>
            </a:r>
            <a:r>
              <a:rPr lang="en-US" sz="2000" dirty="0">
                <a:latin typeface="Microsoft YaHei Light"/>
                <a:ea typeface="+mj-lt"/>
                <a:cs typeface="+mj-lt"/>
              </a:rPr>
              <a:t> → TensorFlow Serving.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Responses are cached in Redis for improved efficiency.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latin typeface="Microsoft YaHei Light"/>
              <a:ea typeface="+mj-lt"/>
              <a:cs typeface="+mj-lt"/>
            </a:endParaRP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FF0000"/>
                </a:solidFill>
                <a:latin typeface="Microsoft YaHei Light"/>
                <a:ea typeface="+mj-lt"/>
                <a:cs typeface="+mj-lt"/>
              </a:rPr>
              <a:t>Key Benefits: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Real-time Data Processing: Efficient communication through </a:t>
            </a:r>
            <a:r>
              <a:rPr lang="en-US" sz="2000" dirty="0" err="1">
                <a:latin typeface="Microsoft YaHei Light"/>
                <a:ea typeface="+mj-lt"/>
                <a:cs typeface="+mj-lt"/>
              </a:rPr>
              <a:t>gRPC</a:t>
            </a:r>
            <a:r>
              <a:rPr lang="en-US" sz="2000" dirty="0">
                <a:latin typeface="Microsoft YaHei Light"/>
                <a:ea typeface="+mj-lt"/>
                <a:cs typeface="+mj-lt"/>
              </a:rPr>
              <a:t>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Performance Optimization: Caching with Redis reduces response times.</a:t>
            </a:r>
          </a:p>
          <a:p>
            <a:pPr hangingPunct="1">
              <a:buFont typeface="Wingdings" panose="05000000000000000000" pitchFamily="2" charset="2"/>
              <a:buChar char="§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/>
                <a:ea typeface="+mj-lt"/>
                <a:cs typeface="+mj-lt"/>
              </a:rPr>
              <a:t>Scalability: Separation of mobile and web applications enhances manageability.</a:t>
            </a:r>
            <a:r>
              <a:rPr lang="en-US" dirty="0">
                <a:latin typeface="Microsoft YaHei Light"/>
                <a:ea typeface="+mj-lt"/>
                <a:cs typeface="+mj-lt"/>
              </a:rPr>
              <a:t>.</a:t>
            </a:r>
          </a:p>
        </p:txBody>
      </p:sp>
      <p:pic>
        <p:nvPicPr>
          <p:cNvPr id="3" name="Picture 2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0C376D00-EB3B-7ECF-A3BD-30C105D150D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482" y="1486897"/>
            <a:ext cx="5943600" cy="142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9693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Future Work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We introduce a </a:t>
            </a:r>
            <a:r>
              <a:rPr lang="en-US" sz="2000" dirty="0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rapid</a:t>
            </a: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affordable</a:t>
            </a: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smartphone application designed for malaria screening.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This app provides essential features with a </a:t>
            </a:r>
            <a:r>
              <a:rPr lang="en-US" sz="2000" dirty="0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user-friendly interface</a:t>
            </a: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, enabling automatic screening of slides.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Management</a:t>
            </a: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of images and metadata generated during the screening process, which can be utilized to further enhance the image analysis model.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Future Enhancements</a:t>
            </a: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 detect multiple species, enable offline functionality, gather user feedback.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Counting of infected red blood cells and parasites for P. falciparum malaria.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Predicting Malaria Outbreaks</a:t>
            </a:r>
            <a:endParaRPr lang="en-US" sz="16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459159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071CC31-E3BB-0CF5-58C7-0CB500F3ECEF}"/>
              </a:ext>
            </a:extLst>
          </p:cNvPr>
          <p:cNvSpPr txBox="1">
            <a:spLocks/>
          </p:cNvSpPr>
          <p:nvPr/>
        </p:nvSpPr>
        <p:spPr>
          <a:xfrm>
            <a:off x="871348" y="1476679"/>
            <a:ext cx="4872894" cy="57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FFC837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defTabSz="795527" hangingPunct="1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rgbClr val="383838"/>
                </a:solidFill>
                <a:latin typeface="Microsoft YaHei"/>
                <a:ea typeface="Merriweather Sans Regular ExtraBold"/>
                <a:cs typeface="Merriweather Sans Regular ExtraBold"/>
              </a:rPr>
              <a:t>References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3C98FB-0DE0-A7C6-DB47-733B7ED5E622}"/>
              </a:ext>
            </a:extLst>
          </p:cNvPr>
          <p:cNvSpPr txBox="1">
            <a:spLocks/>
          </p:cNvSpPr>
          <p:nvPr/>
        </p:nvSpPr>
        <p:spPr>
          <a:xfrm>
            <a:off x="751976" y="2249738"/>
            <a:ext cx="10941982" cy="4249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 fontScale="92500"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1. Chittagong Medical College Hospital. (2020). De-identified patient records. IRB#129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2. Google Health. (2022). AI for Malaria Diagnosis. https://ai.google/social-good/health/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3. NIH Malaria Dataset. National Institutes of </a:t>
            </a:r>
            <a:r>
              <a:rPr lang="en-US" sz="2000" dirty="0" err="1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Health.https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://lhncbc.nlm.nih.gov/publication/pub9932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4. </a:t>
            </a:r>
            <a:r>
              <a:rPr lang="en-US" sz="2000" dirty="0" err="1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Palanica</a:t>
            </a: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 et al. (2019). AI Chatbots in Healthcare: A Systematic Review. JMIR.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5. Rosado et al. (2017). Mobile-Based Analysis of Malaria-Infected Blood Smears. Sensors.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6. TensorFlow Team. (2023). On-Device ML with TF Lite. https://www.tensorflow.org/lite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7. WHO. (2021). Digital Health Interventions. https://www.who.int/health-topics/digital-health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8. WHO. (2021). Malaria Treatment Guidelines, 3rd Edition.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9. Yang et al. (2019). Deep Learning for Smartphone-Based Malaria Parasite Detection. IEEE JBHI.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2000" dirty="0">
                <a:solidFill>
                  <a:srgbClr val="000000"/>
                </a:solidFill>
                <a:latin typeface="Microsoft YaHei Light"/>
                <a:ea typeface="Calibri"/>
                <a:cs typeface="Calibri"/>
              </a:rPr>
              <a:t>10. Yu et al. (2020). Malaria Screener: A Smartphone Application for Automated Malaria Screening. BMC Infectious Diseases.</a:t>
            </a:r>
          </a:p>
          <a:p>
            <a:pPr marL="0" indent="0" hangingPunct="1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2000" dirty="0">
              <a:solidFill>
                <a:srgbClr val="000000"/>
              </a:solidFill>
              <a:latin typeface="Microsoft YaHei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275643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4352098" y="2352844"/>
            <a:ext cx="4403897" cy="3307515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b="1">
                <a:latin typeface="Microsoft YaHei"/>
              </a:rPr>
              <a:t>Thank you!</a:t>
            </a:r>
            <a:endParaRPr lang="en-US" b="1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6" ma:contentTypeDescription="Create a new document." ma:contentTypeScope="" ma:versionID="50db4ba235eabe6491ab7857e29c0882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bdc0650e2d63736d94805c8d3699dd99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6259e846-8b77-4076-b7b3-191dee427045"/>
    <ds:schemaRef ds:uri="http://purl.org/dc/terms/"/>
    <ds:schemaRef ds:uri="http://schemas.openxmlformats.org/package/2006/metadata/core-properties"/>
    <ds:schemaRef ds:uri="97847797-b717-4ffb-b5fd-2a237f853cda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55A1437-D0FC-45AE-95B7-D57A756B97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59e846-8b77-4076-b7b3-191dee427045"/>
    <ds:schemaRef ds:uri="97847797-b717-4ffb-b5fd-2a237f853c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3373</TotalTime>
  <Words>1879</Words>
  <Application>Microsoft Office PowerPoint</Application>
  <PresentationFormat>Widescreen</PresentationFormat>
  <Paragraphs>177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Microsoft YaHei</vt:lpstr>
      <vt:lpstr>Microsoft YaHei Light</vt:lpstr>
      <vt:lpstr>Arial</vt:lpstr>
      <vt:lpstr>Calibri</vt:lpstr>
      <vt:lpstr>Calibri Light</vt:lpstr>
      <vt:lpstr>Courier New</vt:lpstr>
      <vt:lpstr>Helvetica Neue Thin</vt:lpstr>
      <vt:lpstr>Wingdings</vt:lpstr>
      <vt:lpstr>frontiertech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Zelalem Wubet</cp:lastModifiedBy>
  <cp:revision>23</cp:revision>
  <dcterms:modified xsi:type="dcterms:W3CDTF">2025-07-02T17:55:23Z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